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handoutMasterIdLst>
    <p:handoutMasterId r:id="rId28"/>
  </p:handoutMasterIdLst>
  <p:sldIdLst>
    <p:sldId id="280" r:id="rId2"/>
    <p:sldId id="366" r:id="rId3"/>
    <p:sldId id="380" r:id="rId4"/>
    <p:sldId id="383" r:id="rId5"/>
    <p:sldId id="384" r:id="rId6"/>
    <p:sldId id="400" r:id="rId7"/>
    <p:sldId id="385" r:id="rId8"/>
    <p:sldId id="386" r:id="rId9"/>
    <p:sldId id="387" r:id="rId10"/>
    <p:sldId id="401" r:id="rId11"/>
    <p:sldId id="388" r:id="rId12"/>
    <p:sldId id="389" r:id="rId13"/>
    <p:sldId id="390" r:id="rId14"/>
    <p:sldId id="402" r:id="rId15"/>
    <p:sldId id="405" r:id="rId16"/>
    <p:sldId id="403" r:id="rId17"/>
    <p:sldId id="404" r:id="rId18"/>
    <p:sldId id="391" r:id="rId19"/>
    <p:sldId id="392" r:id="rId20"/>
    <p:sldId id="406" r:id="rId21"/>
    <p:sldId id="393" r:id="rId22"/>
    <p:sldId id="394" r:id="rId23"/>
    <p:sldId id="398" r:id="rId24"/>
    <p:sldId id="395" r:id="rId25"/>
    <p:sldId id="281"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88" autoAdjust="0"/>
    <p:restoredTop sz="94364" autoAdjust="0"/>
  </p:normalViewPr>
  <p:slideViewPr>
    <p:cSldViewPr>
      <p:cViewPr>
        <p:scale>
          <a:sx n="62" d="100"/>
          <a:sy n="62" d="100"/>
        </p:scale>
        <p:origin x="1496" y="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F6B4D-1EB5-6490-FE88-D894C3F997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EF332-B132-78E6-4180-6A6CFD7E1C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93AC2C-A5A6-2BD4-874B-B3B31067B8A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634FEF2-3696-2D57-BB5B-5066171BF02E}"/>
              </a:ext>
            </a:extLst>
          </p:cNvPr>
          <p:cNvSpPr>
            <a:spLocks noGrp="1"/>
          </p:cNvSpPr>
          <p:nvPr>
            <p:ph type="sldNum" sz="quarter" idx="10"/>
          </p:nvPr>
        </p:nvSpPr>
        <p:spPr/>
        <p:txBody>
          <a:bodyPr/>
          <a:lstStyle/>
          <a:p>
            <a:fld id="{3F7A3D7D-4DD0-4519-9573-665089B66871}" type="slidenum">
              <a:rPr lang="en-US" smtClean="0"/>
              <a:pPr/>
              <a:t>20</a:t>
            </a:fld>
            <a:endParaRPr lang="en-US"/>
          </a:p>
        </p:txBody>
      </p:sp>
    </p:spTree>
    <p:extLst>
      <p:ext uri="{BB962C8B-B14F-4D97-AF65-F5344CB8AC3E}">
        <p14:creationId xmlns:p14="http://schemas.microsoft.com/office/powerpoint/2010/main" val="25167279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22</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23</a:t>
            </a:fld>
            <a:endParaRPr lang="en-US"/>
          </a:p>
        </p:txBody>
      </p:sp>
    </p:spTree>
    <p:extLst>
      <p:ext uri="{BB962C8B-B14F-4D97-AF65-F5344CB8AC3E}">
        <p14:creationId xmlns:p14="http://schemas.microsoft.com/office/powerpoint/2010/main" val="31746253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24</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25</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8.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9.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10.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 Id="rId5" Type="http://schemas.openxmlformats.org/officeDocument/2006/relationships/hyperlink" Target="https://doi.org/10.21817/ijet/2021/v9i6/210906295" TargetMode="External"/><Relationship Id="rId4" Type="http://schemas.openxmlformats.org/officeDocument/2006/relationships/hyperlink" Target="https://doi.org/10.14569/IJACSA.2020.0110737"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6515" y="986564"/>
            <a:ext cx="9150515" cy="5160810"/>
            <a:chOff x="-6515" y="986564"/>
            <a:chExt cx="9150515" cy="5160810"/>
          </a:xfrm>
        </p:grpSpPr>
        <p:sp>
          <p:nvSpPr>
            <p:cNvPr id="22" name="TextBox 21"/>
            <p:cNvSpPr txBox="1"/>
            <p:nvPr/>
          </p:nvSpPr>
          <p:spPr>
            <a:xfrm>
              <a:off x="71500" y="4823935"/>
              <a:ext cx="4322209" cy="1323439"/>
            </a:xfrm>
            <a:prstGeom prst="rect">
              <a:avLst/>
            </a:prstGeom>
            <a:noFill/>
          </p:spPr>
          <p:txBody>
            <a:bodyPr wrap="square" rtlCol="0">
              <a:spAutoFit/>
            </a:bodyPr>
            <a:lstStyle/>
            <a:p>
              <a:r>
                <a:rPr lang="en-US" sz="2000" b="1" dirty="0"/>
                <a:t>Register No.: 220701062</a:t>
              </a:r>
            </a:p>
            <a:p>
              <a:r>
                <a:rPr lang="en-US" sz="2000" b="1" dirty="0"/>
                <a:t>Name: DHANYAA VANISHA A</a:t>
              </a:r>
            </a:p>
            <a:p>
              <a:r>
                <a:rPr lang="en-US" sz="2000" b="1" dirty="0"/>
                <a:t>Guide Name</a:t>
              </a:r>
            </a:p>
            <a:p>
              <a:r>
                <a:rPr lang="en-US" sz="2000" b="1" dirty="0"/>
                <a:t>III year CSE A</a:t>
              </a:r>
            </a:p>
          </p:txBody>
        </p:sp>
        <p:grpSp>
          <p:nvGrpSpPr>
            <p:cNvPr id="43" name="Group 42"/>
            <p:cNvGrpSpPr/>
            <p:nvPr/>
          </p:nvGrpSpPr>
          <p:grpSpPr>
            <a:xfrm>
              <a:off x="-6515" y="986564"/>
              <a:ext cx="9150515" cy="3699662"/>
              <a:chOff x="-6515" y="986564"/>
              <a:chExt cx="9150515" cy="3699662"/>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6515" y="986564"/>
                <a:ext cx="4014973" cy="1075928"/>
                <a:chOff x="-8566" y="1011603"/>
                <a:chExt cx="5278947" cy="1075928"/>
              </a:xfrm>
            </p:grpSpPr>
            <p:sp>
              <p:nvSpPr>
                <p:cNvPr id="51" name="Pentagon 50"/>
                <p:cNvSpPr/>
                <p:nvPr/>
              </p:nvSpPr>
              <p:spPr>
                <a:xfrm>
                  <a:off x="-8566"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2" y="2100903"/>
                <a:ext cx="5366326" cy="2585323"/>
              </a:xfrm>
              <a:prstGeom prst="rect">
                <a:avLst/>
              </a:prstGeom>
              <a:noFill/>
            </p:spPr>
            <p:txBody>
              <a:bodyPr wrap="square" rtlCol="0">
                <a:spAutoFit/>
              </a:bodyPr>
              <a:lstStyle/>
              <a:p>
                <a:r>
                  <a:rPr lang="en-US" sz="5400" b="1" dirty="0">
                    <a:solidFill>
                      <a:schemeClr val="bg1"/>
                    </a:solidFill>
                    <a:ea typeface="Open Sans Bold" panose="020B0806030504020204" pitchFamily="34" charset="0"/>
                    <a:cs typeface="Open Sans Bold" panose="020B0806030504020204" pitchFamily="34" charset="0"/>
                  </a:rPr>
                  <a:t>Makeup Recommendation Bot</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normAutofit/>
          </a:bodyPr>
          <a:lstStyle/>
          <a:p>
            <a:pPr marL="0" indent="0">
              <a:buNone/>
            </a:pPr>
            <a:r>
              <a:rPr lang="en-IN" dirty="0"/>
              <a:t>The "Makeup Recommendation Bot" is an advanced Robotic Process Automation (RPA) solution developed using UiPath to deliver personalized makeup suggestions tailored to individual preferences. This intelligent bot automates the process of </a:t>
            </a:r>
            <a:r>
              <a:rPr lang="en-IN" dirty="0" err="1"/>
              <a:t>analyzing</a:t>
            </a:r>
            <a:r>
              <a:rPr lang="en-IN" dirty="0"/>
              <a:t> user inputs, such as skin tone, preferred makeup style and preference to recommend the most suitable makeup products and styles. It interacts with a database of makeup products, filters options based on the criteria provided, and generates a detailed recommendation list. By automating this workflow, the bot simplifies the decision-making process for users, saves time, and enhances the overall makeup selection experience, ensuring users achieve their desired look effortlessly.</a:t>
            </a:r>
            <a:endParaRPr lang="en-US" dirty="0"/>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p:txBody>
          <a:bodyPr>
            <a:normAutofit lnSpcReduction="10000"/>
          </a:bodyPr>
          <a:lstStyle/>
          <a:p>
            <a:pPr>
              <a:lnSpc>
                <a:spcPct val="100000"/>
              </a:lnSpc>
            </a:pPr>
            <a:r>
              <a:rPr lang="en-IN" b="1" dirty="0"/>
              <a:t>Personalized Makeup Suggestions:</a:t>
            </a:r>
            <a:r>
              <a:rPr lang="en-IN" dirty="0"/>
              <a:t> The bot uses UiPath RPA to </a:t>
            </a:r>
            <a:r>
              <a:rPr lang="en-IN" dirty="0" err="1"/>
              <a:t>analyze</a:t>
            </a:r>
            <a:r>
              <a:rPr lang="en-IN" dirty="0"/>
              <a:t> user preferences, skin tone, and occasion to provide tailored makeup recommendations.</a:t>
            </a:r>
          </a:p>
          <a:p>
            <a:pPr>
              <a:lnSpc>
                <a:spcPct val="100000"/>
              </a:lnSpc>
            </a:pPr>
            <a:r>
              <a:rPr lang="en-IN" b="1" dirty="0"/>
              <a:t>User Input Integration:</a:t>
            </a:r>
            <a:r>
              <a:rPr lang="en-IN" dirty="0"/>
              <a:t> Captures details like time of day, makeup style, and specific requirements to refine suggestions.</a:t>
            </a:r>
          </a:p>
          <a:p>
            <a:pPr>
              <a:lnSpc>
                <a:spcPct val="100000"/>
              </a:lnSpc>
            </a:pPr>
            <a:r>
              <a:rPr lang="en-IN" b="1" dirty="0"/>
              <a:t>Product Database Access:</a:t>
            </a:r>
            <a:r>
              <a:rPr lang="en-IN" dirty="0"/>
              <a:t> Interacts with a comprehensive makeup product database to match user criteria.</a:t>
            </a:r>
          </a:p>
          <a:p>
            <a:pPr>
              <a:lnSpc>
                <a:spcPct val="100000"/>
              </a:lnSpc>
            </a:pPr>
            <a:r>
              <a:rPr lang="en-IN" b="1" dirty="0"/>
              <a:t>Reduced Decision Fatigue:</a:t>
            </a:r>
            <a:r>
              <a:rPr lang="en-IN" dirty="0"/>
              <a:t> Automates the process of choosing suitable makeup products, saving time and effort.</a:t>
            </a:r>
          </a:p>
          <a:p>
            <a:pPr>
              <a:lnSpc>
                <a:spcPct val="100000"/>
              </a:lnSpc>
            </a:pPr>
            <a:r>
              <a:rPr lang="en-IN" b="1" dirty="0"/>
              <a:t>Enhanced User Experience:</a:t>
            </a:r>
            <a:r>
              <a:rPr lang="en-IN" dirty="0"/>
              <a:t> Ensures users receive accurate and personalized recommendations for achieving their desired look effortlessly.</a:t>
            </a:r>
          </a:p>
          <a:p>
            <a:pPr>
              <a:lnSpc>
                <a:spcPct val="100000"/>
              </a:lnSpc>
            </a:pPr>
            <a:r>
              <a:rPr lang="en-IN" b="1" dirty="0"/>
              <a:t>User-Friendly Interface:</a:t>
            </a:r>
            <a:r>
              <a:rPr lang="en-IN" dirty="0"/>
              <a:t> Simplifies the makeup selection process with consistent and reliable automation</a:t>
            </a:r>
            <a:endParaRPr lang="en-US" dirty="0"/>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normAutofit lnSpcReduction="10000"/>
          </a:bodyPr>
          <a:lstStyle/>
          <a:p>
            <a:r>
              <a:rPr lang="en-IN" b="1" dirty="0"/>
              <a:t>Automation:</a:t>
            </a:r>
            <a:r>
              <a:rPr lang="en-IN" dirty="0"/>
              <a:t> Reduces manual effort by automating personalized makeup recommendations based on user preferences.</a:t>
            </a:r>
          </a:p>
          <a:p>
            <a:r>
              <a:rPr lang="en-IN" b="1" dirty="0"/>
              <a:t>Tailored Suggestions:</a:t>
            </a:r>
            <a:r>
              <a:rPr lang="en-IN" dirty="0"/>
              <a:t> Provides recommendations suited to the user's skin tone, occasion, and time of day, ensuring precision.</a:t>
            </a:r>
          </a:p>
          <a:p>
            <a:r>
              <a:rPr lang="en-IN" b="1" dirty="0"/>
              <a:t>Accurate Matching:</a:t>
            </a:r>
            <a:r>
              <a:rPr lang="en-IN" dirty="0"/>
              <a:t> </a:t>
            </a:r>
            <a:r>
              <a:rPr lang="en-IN" dirty="0" err="1"/>
              <a:t>Analyzes</a:t>
            </a:r>
            <a:r>
              <a:rPr lang="en-IN" dirty="0"/>
              <a:t> user inputs and matches them with a curated database of makeup products for optimal results.</a:t>
            </a:r>
          </a:p>
          <a:p>
            <a:r>
              <a:rPr lang="en-IN" b="1" dirty="0"/>
              <a:t>Error Reduction:</a:t>
            </a:r>
            <a:r>
              <a:rPr lang="en-IN" dirty="0"/>
              <a:t> Minimizes the risk of unsuitable suggestions by leveraging automated criteria-based selection.</a:t>
            </a:r>
          </a:p>
          <a:p>
            <a:r>
              <a:rPr lang="en-IN" b="1" dirty="0"/>
              <a:t>Time-Saving:</a:t>
            </a:r>
            <a:r>
              <a:rPr lang="en-IN" dirty="0"/>
              <a:t> Speeds up the decision-making process for makeup selection, saving users time and effort.</a:t>
            </a:r>
          </a:p>
          <a:p>
            <a:r>
              <a:rPr lang="en-IN" b="1" dirty="0"/>
              <a:t>Consistency:</a:t>
            </a:r>
            <a:r>
              <a:rPr lang="en-IN" dirty="0"/>
              <a:t> Delivers reliable and consistent recommendations to enhance user confidence and satisfaction.</a:t>
            </a:r>
            <a:endParaRPr lang="en-US" dirty="0"/>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normAutofit fontScale="92500" lnSpcReduction="20000"/>
          </a:bodyPr>
          <a:lstStyle/>
          <a:p>
            <a:r>
              <a:rPr lang="en-IN" b="1" i="1" dirty="0"/>
              <a:t>Paper 1: Intelligent Systems for Personalized Product Recommendations: A Survey</a:t>
            </a:r>
            <a:br>
              <a:rPr lang="en-IN" dirty="0"/>
            </a:br>
            <a:r>
              <a:rPr lang="en-IN" b="1" dirty="0"/>
              <a:t>Authors:</a:t>
            </a:r>
            <a:r>
              <a:rPr lang="en-IN" dirty="0"/>
              <a:t> K. K. Kapoor, S. Singh, R. Sharma</a:t>
            </a:r>
            <a:br>
              <a:rPr lang="en-IN" dirty="0"/>
            </a:br>
            <a:r>
              <a:rPr lang="en-IN" b="1" dirty="0"/>
              <a:t>Advantages:</a:t>
            </a:r>
            <a:endParaRPr lang="en-IN" dirty="0"/>
          </a:p>
          <a:p>
            <a:pPr>
              <a:buFont typeface="Arial" panose="020B0604020202020204" pitchFamily="34" charset="0"/>
              <a:buChar char="•"/>
            </a:pPr>
            <a:r>
              <a:rPr lang="en-IN" b="1" dirty="0"/>
              <a:t>Enhanced User Experience:</a:t>
            </a:r>
            <a:r>
              <a:rPr lang="en-IN" dirty="0"/>
              <a:t> Uses AI algorithms to offer tailored product recommendations based on user preferences.</a:t>
            </a:r>
          </a:p>
          <a:p>
            <a:pPr>
              <a:buFont typeface="Arial" panose="020B0604020202020204" pitchFamily="34" charset="0"/>
              <a:buChar char="•"/>
            </a:pPr>
            <a:r>
              <a:rPr lang="en-IN" b="1" dirty="0"/>
              <a:t>Time Efficiency:</a:t>
            </a:r>
            <a:r>
              <a:rPr lang="en-IN" dirty="0"/>
              <a:t> Reduces the time users spend searching for suitable products.</a:t>
            </a:r>
          </a:p>
          <a:p>
            <a:pPr>
              <a:buFont typeface="Arial" panose="020B0604020202020204" pitchFamily="34" charset="0"/>
              <a:buChar char="•"/>
            </a:pPr>
            <a:r>
              <a:rPr lang="en-IN" b="1" dirty="0"/>
              <a:t>Increased Accuracy:</a:t>
            </a:r>
            <a:r>
              <a:rPr lang="en-IN" dirty="0"/>
              <a:t> </a:t>
            </a:r>
            <a:r>
              <a:rPr lang="en-IN" dirty="0" err="1"/>
              <a:t>Analyzes</a:t>
            </a:r>
            <a:r>
              <a:rPr lang="en-IN" dirty="0"/>
              <a:t> large datasets to ensure precise matching of user requirements to available products.</a:t>
            </a:r>
            <a:br>
              <a:rPr lang="en-IN" dirty="0"/>
            </a:br>
            <a:r>
              <a:rPr lang="en-IN" b="1" dirty="0"/>
              <a:t>Disadvantages:</a:t>
            </a:r>
            <a:endParaRPr lang="en-IN" dirty="0"/>
          </a:p>
          <a:p>
            <a:pPr>
              <a:buFont typeface="Arial" panose="020B0604020202020204" pitchFamily="34" charset="0"/>
              <a:buChar char="•"/>
            </a:pPr>
            <a:r>
              <a:rPr lang="en-IN" b="1" dirty="0"/>
              <a:t>Data Dependency:</a:t>
            </a:r>
            <a:r>
              <a:rPr lang="en-IN" dirty="0"/>
              <a:t> Requires high-quality and diverse user data for effective recommendations.</a:t>
            </a:r>
          </a:p>
          <a:p>
            <a:pPr>
              <a:buFont typeface="Arial" panose="020B0604020202020204" pitchFamily="34" charset="0"/>
              <a:buChar char="•"/>
            </a:pPr>
            <a:r>
              <a:rPr lang="en-IN" b="1" dirty="0"/>
              <a:t>Privacy Concerns:</a:t>
            </a:r>
            <a:r>
              <a:rPr lang="en-IN" dirty="0"/>
              <a:t> Storing and </a:t>
            </a:r>
            <a:r>
              <a:rPr lang="en-IN" dirty="0" err="1"/>
              <a:t>analyzing</a:t>
            </a:r>
            <a:r>
              <a:rPr lang="en-IN" dirty="0"/>
              <a:t> personal data may raise security and privacy issues.</a:t>
            </a:r>
          </a:p>
          <a:p>
            <a:pPr marL="0" indent="0">
              <a:buNone/>
            </a:pPr>
            <a:endParaRPr lang="en-US" dirty="0"/>
          </a:p>
          <a:p>
            <a:endParaRPr lang="en-US" dirty="0"/>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D85CE-77D6-A1EC-71CC-66E3F5F9BEE8}"/>
              </a:ext>
            </a:extLst>
          </p:cNvPr>
          <p:cNvSpPr>
            <a:spLocks noGrp="1"/>
          </p:cNvSpPr>
          <p:nvPr>
            <p:ph type="title"/>
          </p:nvPr>
        </p:nvSpPr>
        <p:spPr/>
        <p:txBody>
          <a:bodyPr/>
          <a:lstStyle/>
          <a:p>
            <a:r>
              <a:rPr lang="en-US" dirty="0"/>
              <a:t>Literature Survey</a:t>
            </a:r>
            <a:endParaRPr lang="en-IN" dirty="0"/>
          </a:p>
        </p:txBody>
      </p:sp>
      <p:sp>
        <p:nvSpPr>
          <p:cNvPr id="3" name="Content Placeholder 2">
            <a:extLst>
              <a:ext uri="{FF2B5EF4-FFF2-40B4-BE49-F238E27FC236}">
                <a16:creationId xmlns:a16="http://schemas.microsoft.com/office/drawing/2014/main" id="{992191B0-6BE1-A371-199D-6497813EE375}"/>
              </a:ext>
            </a:extLst>
          </p:cNvPr>
          <p:cNvSpPr>
            <a:spLocks noGrp="1"/>
          </p:cNvSpPr>
          <p:nvPr>
            <p:ph idx="1"/>
          </p:nvPr>
        </p:nvSpPr>
        <p:spPr/>
        <p:txBody>
          <a:bodyPr>
            <a:normAutofit fontScale="92500" lnSpcReduction="20000"/>
          </a:bodyPr>
          <a:lstStyle/>
          <a:p>
            <a:r>
              <a:rPr lang="en-IN" b="1" i="1" dirty="0"/>
              <a:t>Paper 2: Machine Learning Approaches for Skin Tone Detection in Cosmetics Applications</a:t>
            </a:r>
            <a:br>
              <a:rPr lang="en-IN" dirty="0"/>
            </a:br>
            <a:r>
              <a:rPr lang="en-IN" b="1" dirty="0"/>
              <a:t>Authors:</a:t>
            </a:r>
            <a:r>
              <a:rPr lang="en-IN" dirty="0"/>
              <a:t> J. L. Wang, P. K. Gupta, T. E. Brown</a:t>
            </a:r>
            <a:br>
              <a:rPr lang="en-IN" dirty="0"/>
            </a:br>
            <a:r>
              <a:rPr lang="en-IN" b="1" dirty="0"/>
              <a:t>Advantages:</a:t>
            </a:r>
            <a:endParaRPr lang="en-IN" dirty="0"/>
          </a:p>
          <a:p>
            <a:pPr>
              <a:buFont typeface="Arial" panose="020B0604020202020204" pitchFamily="34" charset="0"/>
              <a:buChar char="•"/>
            </a:pPr>
            <a:r>
              <a:rPr lang="en-IN" b="1" dirty="0"/>
              <a:t>Improved Precision:</a:t>
            </a:r>
            <a:r>
              <a:rPr lang="en-IN" dirty="0"/>
              <a:t> Effectively matches cosmetic products to skin tone using advanced machine learning models.</a:t>
            </a:r>
          </a:p>
          <a:p>
            <a:pPr>
              <a:buFont typeface="Arial" panose="020B0604020202020204" pitchFamily="34" charset="0"/>
              <a:buChar char="•"/>
            </a:pPr>
            <a:r>
              <a:rPr lang="en-IN" b="1" dirty="0"/>
              <a:t>Automation:</a:t>
            </a:r>
            <a:r>
              <a:rPr lang="en-IN" dirty="0"/>
              <a:t> Reduces reliance on manual trial-and-error approaches in product selection.</a:t>
            </a:r>
          </a:p>
          <a:p>
            <a:pPr>
              <a:buFont typeface="Arial" panose="020B0604020202020204" pitchFamily="34" charset="0"/>
              <a:buChar char="•"/>
            </a:pPr>
            <a:r>
              <a:rPr lang="en-IN" b="1" dirty="0"/>
              <a:t>Scalability:</a:t>
            </a:r>
            <a:r>
              <a:rPr lang="en-IN" dirty="0"/>
              <a:t> Can handle large databases of cosmetic products and user profiles.</a:t>
            </a:r>
            <a:br>
              <a:rPr lang="en-IN" dirty="0"/>
            </a:br>
            <a:r>
              <a:rPr lang="en-IN" b="1" dirty="0"/>
              <a:t>Disadvantages:</a:t>
            </a:r>
            <a:endParaRPr lang="en-IN" dirty="0"/>
          </a:p>
          <a:p>
            <a:pPr>
              <a:buFont typeface="Arial" panose="020B0604020202020204" pitchFamily="34" charset="0"/>
              <a:buChar char="•"/>
            </a:pPr>
            <a:r>
              <a:rPr lang="en-IN" b="1" dirty="0"/>
              <a:t>Model Training Challenges:</a:t>
            </a:r>
            <a:r>
              <a:rPr lang="en-IN" dirty="0"/>
              <a:t> Requires extensive training data for reliable skin tone detection.</a:t>
            </a:r>
          </a:p>
          <a:p>
            <a:pPr>
              <a:buFont typeface="Arial" panose="020B0604020202020204" pitchFamily="34" charset="0"/>
              <a:buChar char="•"/>
            </a:pPr>
            <a:r>
              <a:rPr lang="en-IN" b="1" dirty="0"/>
              <a:t>Bias in Data:</a:t>
            </a:r>
            <a:r>
              <a:rPr lang="en-IN" dirty="0"/>
              <a:t> Risk of biased results due to insufficient diversity in training datasets.</a:t>
            </a:r>
          </a:p>
          <a:p>
            <a:pPr marL="0" indent="0">
              <a:buNone/>
            </a:pPr>
            <a:endParaRPr lang="en-IN" dirty="0"/>
          </a:p>
        </p:txBody>
      </p:sp>
    </p:spTree>
    <p:extLst>
      <p:ext uri="{BB962C8B-B14F-4D97-AF65-F5344CB8AC3E}">
        <p14:creationId xmlns:p14="http://schemas.microsoft.com/office/powerpoint/2010/main" val="3993432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lstStyle/>
          <a:p>
            <a:endParaRPr lang="en-IN" dirty="0"/>
          </a:p>
          <a:p>
            <a:r>
              <a:rPr lang="en-IN" dirty="0"/>
              <a:t>The primary objective of the "Makeup Recommendation Bot" is to automate the process of providing personalized makeup suggestions tailored to individual preferences, skin tone, and occasion. By leveraging Robotic Process Automation (RPA), the bot aims to enhance the user experience by simplifying the decision-making process for selecting suitable makeup products and styles. The project seeks to offer a reliable and efficient solution for users to receive accurate recommendations, saving time and effort while ensuring they achieve their desired look with confidence.</a:t>
            </a:r>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3076" name="Picture 4">
            <a:extLst>
              <a:ext uri="{FF2B5EF4-FFF2-40B4-BE49-F238E27FC236}">
                <a16:creationId xmlns:a16="http://schemas.microsoft.com/office/drawing/2014/main" id="{26F46C6E-987B-2B40-7A09-940003041A4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19772" y="692696"/>
            <a:ext cx="3843313" cy="575153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lstStyle/>
          <a:p>
            <a:pPr marL="0" indent="0" algn="just">
              <a:lnSpc>
                <a:spcPct val="107000"/>
              </a:lnSpc>
              <a:spcAft>
                <a:spcPts val="800"/>
              </a:spcAft>
              <a:buNone/>
            </a:pPr>
            <a:r>
              <a:rPr lang="en-IN" b="1" kern="100" dirty="0">
                <a:latin typeface="Calibri" panose="020F0502020204030204" pitchFamily="34" charset="0"/>
                <a:ea typeface="Calibri" panose="020F0502020204030204" pitchFamily="34" charset="0"/>
              </a:rPr>
              <a:t>1.</a:t>
            </a:r>
            <a:r>
              <a:rPr lang="en-IN" b="1" kern="100" dirty="0">
                <a:effectLst/>
                <a:latin typeface="Calibri" panose="020F0502020204030204" pitchFamily="34" charset="0"/>
                <a:ea typeface="Calibri" panose="020F0502020204030204" pitchFamily="34" charset="0"/>
                <a:cs typeface="Times New Roman" panose="02020603050405020304" pitchFamily="18" charset="0"/>
              </a:rPr>
              <a:t> Hardware Requirements</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lvl="1" indent="-342900" algn="just">
              <a:lnSpc>
                <a:spcPct val="107000"/>
              </a:lnSpc>
              <a:spcAft>
                <a:spcPts val="800"/>
              </a:spcAft>
              <a:buSzPts val="1000"/>
              <a:buFont typeface="Symbol" panose="05050102010706020507" pitchFamily="18" charset="2"/>
              <a:buChar char=""/>
              <a:tabLst>
                <a:tab pos="457200" algn="l"/>
              </a:tabLst>
            </a:pPr>
            <a:r>
              <a:rPr lang="en-IN" sz="2400" b="1" kern="100" dirty="0">
                <a:effectLst/>
                <a:latin typeface="Calibri" panose="020F0502020204030204" pitchFamily="34" charset="0"/>
                <a:ea typeface="Calibri" panose="020F0502020204030204" pitchFamily="34" charset="0"/>
                <a:cs typeface="Times New Roman" panose="02020603050405020304" pitchFamily="18" charset="0"/>
              </a:rPr>
              <a:t>Processor</a:t>
            </a: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 Intel Core i5 or higher (or equivalent AMD processor)</a:t>
            </a:r>
          </a:p>
          <a:p>
            <a:pPr lvl="1" indent="-342900" algn="just">
              <a:lnSpc>
                <a:spcPct val="107000"/>
              </a:lnSpc>
              <a:spcAft>
                <a:spcPts val="800"/>
              </a:spcAft>
              <a:buSzPts val="1000"/>
              <a:buFont typeface="Symbol" panose="05050102010706020507" pitchFamily="18" charset="2"/>
              <a:buChar char=""/>
              <a:tabLst>
                <a:tab pos="457200" algn="l"/>
              </a:tabLst>
            </a:pPr>
            <a:r>
              <a:rPr lang="en-IN" sz="2400" b="1" kern="100" dirty="0">
                <a:effectLst/>
                <a:latin typeface="Calibri" panose="020F0502020204030204" pitchFamily="34" charset="0"/>
                <a:ea typeface="Calibri" panose="020F0502020204030204" pitchFamily="34" charset="0"/>
                <a:cs typeface="Times New Roman" panose="02020603050405020304" pitchFamily="18" charset="0"/>
              </a:rPr>
              <a:t>RAM</a:t>
            </a: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 Minimum 8 GB (16 GB recommended for optimal performance)</a:t>
            </a:r>
          </a:p>
          <a:p>
            <a:pPr lvl="1" indent="-342900" algn="just">
              <a:lnSpc>
                <a:spcPct val="107000"/>
              </a:lnSpc>
              <a:spcAft>
                <a:spcPts val="800"/>
              </a:spcAft>
              <a:buSzPts val="1000"/>
              <a:buFont typeface="Symbol" panose="05050102010706020507" pitchFamily="18" charset="2"/>
              <a:buChar char=""/>
              <a:tabLst>
                <a:tab pos="457200" algn="l"/>
              </a:tabLst>
            </a:pPr>
            <a:r>
              <a:rPr lang="en-IN" sz="2400" b="1" kern="100" dirty="0">
                <a:effectLst/>
                <a:latin typeface="Calibri" panose="020F0502020204030204" pitchFamily="34" charset="0"/>
                <a:ea typeface="Calibri" panose="020F0502020204030204" pitchFamily="34" charset="0"/>
                <a:cs typeface="Times New Roman" panose="02020603050405020304" pitchFamily="18" charset="0"/>
              </a:rPr>
              <a:t>Storage</a:t>
            </a: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a:t>
            </a:r>
          </a:p>
          <a:p>
            <a:pPr lvl="2" indent="-285750" algn="just">
              <a:lnSpc>
                <a:spcPct val="107000"/>
              </a:lnSpc>
              <a:spcAft>
                <a:spcPts val="800"/>
              </a:spcAft>
              <a:buSzPts val="1000"/>
              <a:buFont typeface="Courier New" panose="02070309020205020404" pitchFamily="49" charset="0"/>
              <a:buChar char="o"/>
              <a:tabLst>
                <a:tab pos="914400" algn="l"/>
              </a:tabLst>
            </a:pP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Minimum 256 GB HDD or SSD (512 GB SSD recommended)</a:t>
            </a:r>
          </a:p>
          <a:p>
            <a:pPr lvl="2" indent="-285750" algn="just">
              <a:lnSpc>
                <a:spcPct val="107000"/>
              </a:lnSpc>
              <a:spcAft>
                <a:spcPts val="800"/>
              </a:spcAft>
              <a:buSzPts val="1000"/>
              <a:buFont typeface="Courier New" panose="02070309020205020404" pitchFamily="49" charset="0"/>
              <a:buChar char="o"/>
              <a:tabLst>
                <a:tab pos="914400" algn="l"/>
              </a:tabLst>
            </a:pP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Additional storage based on the volume of bill data</a:t>
            </a:r>
          </a:p>
          <a:p>
            <a:pPr lvl="1" indent="-342900" algn="just">
              <a:lnSpc>
                <a:spcPct val="107000"/>
              </a:lnSpc>
              <a:spcAft>
                <a:spcPts val="800"/>
              </a:spcAft>
              <a:buSzPts val="1000"/>
              <a:buFont typeface="Symbol" panose="05050102010706020507" pitchFamily="18" charset="2"/>
              <a:buChar char=""/>
              <a:tabLst>
                <a:tab pos="457200" algn="l"/>
              </a:tabLst>
            </a:pPr>
            <a:r>
              <a:rPr lang="en-IN" sz="2400" b="1" kern="100" dirty="0">
                <a:effectLst/>
                <a:latin typeface="Calibri" panose="020F0502020204030204" pitchFamily="34" charset="0"/>
                <a:ea typeface="Calibri" panose="020F0502020204030204" pitchFamily="34" charset="0"/>
                <a:cs typeface="Times New Roman" panose="02020603050405020304" pitchFamily="18" charset="0"/>
              </a:rPr>
              <a:t>Display</a:t>
            </a: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 1366x768 resolution or higher</a:t>
            </a:r>
          </a:p>
          <a:p>
            <a:pPr lvl="1" indent="-342900" algn="just">
              <a:lnSpc>
                <a:spcPct val="107000"/>
              </a:lnSpc>
              <a:spcAft>
                <a:spcPts val="800"/>
              </a:spcAft>
              <a:buSzPts val="1000"/>
              <a:buFont typeface="Symbol" panose="05050102010706020507" pitchFamily="18" charset="2"/>
              <a:buChar char=""/>
              <a:tabLst>
                <a:tab pos="457200" algn="l"/>
              </a:tabLst>
            </a:pPr>
            <a:r>
              <a:rPr lang="en-IN" sz="2400" b="1" kern="100" dirty="0">
                <a:effectLst/>
                <a:latin typeface="Calibri" panose="020F0502020204030204" pitchFamily="34" charset="0"/>
                <a:ea typeface="Calibri" panose="020F0502020204030204" pitchFamily="34" charset="0"/>
                <a:cs typeface="Times New Roman" panose="02020603050405020304" pitchFamily="18" charset="0"/>
              </a:rPr>
              <a:t>Network</a:t>
            </a: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 Stable internet connection for output generation</a:t>
            </a:r>
            <a:endParaRPr lang="en-US" dirty="0"/>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B0C7-9828-9A8E-F06E-5E9518AC1D5D}"/>
              </a:ext>
            </a:extLst>
          </p:cNvPr>
          <p:cNvSpPr>
            <a:spLocks noGrp="1"/>
          </p:cNvSpPr>
          <p:nvPr>
            <p:ph type="title"/>
          </p:nvPr>
        </p:nvSpPr>
        <p:spPr/>
        <p:txBody>
          <a:bodyPr/>
          <a:lstStyle/>
          <a:p>
            <a:r>
              <a:rPr lang="en-US"/>
              <a:t>System Requirements</a:t>
            </a:r>
            <a:endParaRPr lang="en-IN" dirty="0"/>
          </a:p>
        </p:txBody>
      </p:sp>
      <p:sp>
        <p:nvSpPr>
          <p:cNvPr id="11" name="Rectangle 6">
            <a:extLst>
              <a:ext uri="{FF2B5EF4-FFF2-40B4-BE49-F238E27FC236}">
                <a16:creationId xmlns:a16="http://schemas.microsoft.com/office/drawing/2014/main" id="{D2986892-C0FE-E004-D3A8-DAA1DFDB055A}"/>
              </a:ext>
            </a:extLst>
          </p:cNvPr>
          <p:cNvSpPr>
            <a:spLocks noGrp="1" noChangeArrowheads="1"/>
          </p:cNvSpPr>
          <p:nvPr>
            <p:ph idx="1"/>
          </p:nvPr>
        </p:nvSpPr>
        <p:spPr bwMode="auto">
          <a:xfrm>
            <a:off x="323528" y="764704"/>
            <a:ext cx="9037004"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rPr>
              <a:t>Software Requirements</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rPr>
              <a:t>Operating System:</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Windows 10 or higher (64-bit version)</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rPr>
              <a:t>Automation Platform:</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UiPath Studio 2024 or compatible version</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rPr>
              <a:t>Dependencies and Libraries:</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rPr>
              <a:t>UiPath.System.Activities</a:t>
            </a:r>
            <a:r>
              <a:rPr kumimoji="0" lang="en-US" altLang="en-US" b="0" i="0" u="none" strike="noStrike" cap="none" normalizeH="0" baseline="0" dirty="0">
                <a:ln>
                  <a:noFill/>
                </a:ln>
                <a:solidFill>
                  <a:schemeClr val="tx1"/>
                </a:solidFill>
                <a:effectLst/>
              </a:rPr>
              <a:t> (for Message Box and Input Dialog)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rPr>
              <a:t>UiPath.UIAutomation.Activities</a:t>
            </a:r>
            <a:r>
              <a:rPr kumimoji="0" lang="en-US" altLang="en-US" b="0" i="0" u="none" strike="noStrike" cap="none" normalizeH="0" baseline="0" dirty="0">
                <a:ln>
                  <a:noFill/>
                </a:ln>
                <a:solidFill>
                  <a:schemeClr val="tx1"/>
                </a:solidFill>
                <a:effectLst/>
              </a:rPr>
              <a:t> (if any user interface automation is present)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Additional specific dependencies may apply based on "Connector activity."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59546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7" name="Rectangle 34">
            <a:extLst>
              <a:ext uri="{FF2B5EF4-FFF2-40B4-BE49-F238E27FC236}">
                <a16:creationId xmlns:a16="http://schemas.microsoft.com/office/drawing/2014/main" id="{CECE2DB9-CBBE-39EF-CD23-9E1B8C0BEFA8}"/>
              </a:ext>
            </a:extLst>
          </p:cNvPr>
          <p:cNvSpPr>
            <a:spLocks noChangeArrowheads="1"/>
          </p:cNvSpPr>
          <p:nvPr/>
        </p:nvSpPr>
        <p:spPr bwMode="auto">
          <a:xfrm>
            <a:off x="457200" y="362635"/>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3" name="Rectangle 40">
            <a:extLst>
              <a:ext uri="{FF2B5EF4-FFF2-40B4-BE49-F238E27FC236}">
                <a16:creationId xmlns:a16="http://schemas.microsoft.com/office/drawing/2014/main" id="{E885FA58-19F4-859C-4989-10E2F1335495}"/>
              </a:ext>
            </a:extLst>
          </p:cNvPr>
          <p:cNvSpPr>
            <a:spLocks noChangeArrowheads="1"/>
          </p:cNvSpPr>
          <p:nvPr/>
        </p:nvSpPr>
        <p:spPr bwMode="auto">
          <a:xfrm>
            <a:off x="762000" y="66743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5" name="Rectangle 52">
            <a:extLst>
              <a:ext uri="{FF2B5EF4-FFF2-40B4-BE49-F238E27FC236}">
                <a16:creationId xmlns:a16="http://schemas.microsoft.com/office/drawing/2014/main" id="{4AF55E58-71D2-38FC-2F0B-CEBB57A025CB}"/>
              </a:ext>
            </a:extLst>
          </p:cNvPr>
          <p:cNvSpPr>
            <a:spLocks noChangeArrowheads="1"/>
          </p:cNvSpPr>
          <p:nvPr/>
        </p:nvSpPr>
        <p:spPr bwMode="auto">
          <a:xfrm>
            <a:off x="1371600" y="127703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5" name="Rectangle 72">
            <a:extLst>
              <a:ext uri="{FF2B5EF4-FFF2-40B4-BE49-F238E27FC236}">
                <a16:creationId xmlns:a16="http://schemas.microsoft.com/office/drawing/2014/main" id="{3A5A9E5E-345E-0D81-746E-846CBB27A02A}"/>
              </a:ext>
            </a:extLst>
          </p:cNvPr>
          <p:cNvSpPr>
            <a:spLocks noChangeArrowheads="1"/>
          </p:cNvSpPr>
          <p:nvPr/>
        </p:nvSpPr>
        <p:spPr bwMode="auto">
          <a:xfrm>
            <a:off x="2286000" y="2664510"/>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6" name="Rectangle 93">
            <a:extLst>
              <a:ext uri="{FF2B5EF4-FFF2-40B4-BE49-F238E27FC236}">
                <a16:creationId xmlns:a16="http://schemas.microsoft.com/office/drawing/2014/main" id="{F6AEEAE2-E94A-9FD6-4F59-1CB1B4BD40FA}"/>
              </a:ext>
            </a:extLst>
          </p:cNvPr>
          <p:cNvSpPr>
            <a:spLocks noChangeArrowheads="1"/>
          </p:cNvSpPr>
          <p:nvPr/>
        </p:nvSpPr>
        <p:spPr bwMode="auto">
          <a:xfrm>
            <a:off x="3352800" y="3962142"/>
            <a:ext cx="148470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u="none" strike="noStrike" cap="none" normalizeH="0" baseline="0" dirty="0">
                <a:ln>
                  <a:noFill/>
                </a:ln>
                <a:solidFill>
                  <a:schemeClr val="tx1"/>
                </a:solidFill>
                <a:effectLst/>
                <a:latin typeface="Arial" panose="020B0604020202020204" pitchFamily="34" charset="0"/>
              </a:rPr>
              <a:t>Module 2: Recommendation Engine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7" name="Rectangle 94">
            <a:extLst>
              <a:ext uri="{FF2B5EF4-FFF2-40B4-BE49-F238E27FC236}">
                <a16:creationId xmlns:a16="http://schemas.microsoft.com/office/drawing/2014/main" id="{D85AEC02-72D5-666A-58F2-B57145699235}"/>
              </a:ext>
            </a:extLst>
          </p:cNvPr>
          <p:cNvSpPr>
            <a:spLocks noChangeArrowheads="1"/>
          </p:cNvSpPr>
          <p:nvPr/>
        </p:nvSpPr>
        <p:spPr bwMode="auto">
          <a:xfrm>
            <a:off x="3505200" y="3641467"/>
            <a:ext cx="137890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u="none" strike="noStrike" cap="none" normalizeH="0" baseline="0" dirty="0">
                <a:ln>
                  <a:noFill/>
                </a:ln>
                <a:solidFill>
                  <a:schemeClr val="tx1"/>
                </a:solidFill>
                <a:effectLst/>
                <a:latin typeface="Arial" panose="020B0604020202020204" pitchFamily="34" charset="0"/>
              </a:rPr>
              <a:t>Module 1: User Input Processing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432B80A3-BE43-5B25-A6E2-349FA2C9E894}"/>
              </a:ext>
            </a:extLst>
          </p:cNvPr>
          <p:cNvSpPr>
            <a:spLocks noChangeArrowheads="1"/>
          </p:cNvSpPr>
          <p:nvPr/>
        </p:nvSpPr>
        <p:spPr bwMode="auto">
          <a:xfrm>
            <a:off x="0" y="1201552"/>
            <a:ext cx="8460432"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mj-lt"/>
              </a:rPr>
              <a:t>Module : Recommendation Engine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j-lt"/>
              </a:rPr>
              <a:t>Short Description:</a:t>
            </a:r>
            <a:br>
              <a:rPr kumimoji="0" lang="en-US" altLang="en-US" sz="2400" b="0" i="0" u="none" strike="noStrike" cap="none" normalizeH="0" baseline="0" dirty="0">
                <a:ln>
                  <a:noFill/>
                </a:ln>
                <a:solidFill>
                  <a:schemeClr val="tx1"/>
                </a:solidFill>
                <a:effectLst/>
                <a:latin typeface="+mj-lt"/>
              </a:rPr>
            </a:br>
            <a:r>
              <a:rPr kumimoji="0" lang="en-US" altLang="en-US" sz="2400" b="0" i="0" u="none" strike="noStrike" cap="none" normalizeH="0" baseline="0" dirty="0">
                <a:ln>
                  <a:noFill/>
                </a:ln>
                <a:solidFill>
                  <a:schemeClr val="tx1"/>
                </a:solidFill>
                <a:effectLst/>
                <a:latin typeface="+mj-lt"/>
              </a:rPr>
              <a:t>This module processes the user data to generate tailored makeup recommendations.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j-lt"/>
              </a:rPr>
              <a:t>Functionality:</a:t>
            </a:r>
            <a:endParaRPr kumimoji="0" lang="en-US" altLang="en-US" sz="2400"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Access product databases or APIs to fetch makeup items (e.g., foundations, lipsticks, eyeshadows).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Match user inputs to product attributes such as color, texture, and brand.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Utilize AI algorithms to rank recommendations based on user preferences and reviews.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Suggest complementary items for a full look (e.g., lip liner for lipstick, blush to match skin tone).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latin typeface="+mj-lt"/>
              </a:rPr>
              <a:t>Data Flow Diagram</a:t>
            </a:r>
          </a:p>
        </p:txBody>
      </p:sp>
      <p:pic>
        <p:nvPicPr>
          <p:cNvPr id="2050" name="Picture 2">
            <a:extLst>
              <a:ext uri="{FF2B5EF4-FFF2-40B4-BE49-F238E27FC236}">
                <a16:creationId xmlns:a16="http://schemas.microsoft.com/office/drawing/2014/main" id="{295E4E32-ECB8-4D01-F609-224D6264DA6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5104" y="1052736"/>
            <a:ext cx="7033791" cy="544975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p:cNvSpPr>
            <a:spLocks noGrp="1"/>
          </p:cNvSpPr>
          <p:nvPr>
            <p:ph idx="1"/>
          </p:nvPr>
        </p:nvSpPr>
        <p:spPr/>
        <p:txBody>
          <a:bodyPr>
            <a:normAutofit/>
          </a:bodyPr>
          <a:lstStyle/>
          <a:p>
            <a:pPr marL="0" indent="0" algn="just">
              <a:buNone/>
            </a:pPr>
            <a:endParaRPr lang="en-US" dirty="0"/>
          </a:p>
          <a:p>
            <a:pPr marL="0" indent="0">
              <a:buNone/>
            </a:pPr>
            <a:endParaRPr lang="en-US" dirty="0"/>
          </a:p>
        </p:txBody>
      </p:sp>
      <p:sp>
        <p:nvSpPr>
          <p:cNvPr id="4" name="Rectangle 1">
            <a:extLst>
              <a:ext uri="{FF2B5EF4-FFF2-40B4-BE49-F238E27FC236}">
                <a16:creationId xmlns:a16="http://schemas.microsoft.com/office/drawing/2014/main" id="{637AA47E-D90F-4F7A-EBDA-4BF61FE00205}"/>
              </a:ext>
            </a:extLst>
          </p:cNvPr>
          <p:cNvSpPr>
            <a:spLocks noChangeArrowheads="1"/>
          </p:cNvSpPr>
          <p:nvPr/>
        </p:nvSpPr>
        <p:spPr bwMode="auto">
          <a:xfrm>
            <a:off x="381000" y="1139077"/>
            <a:ext cx="8295456" cy="5109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mj-lt"/>
              </a:rPr>
              <a:t>Main Process: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mj-lt"/>
              </a:rPr>
              <a:t>AI-Powered Makeup Recommendation Bot</a:t>
            </a:r>
            <a:br>
              <a:rPr kumimoji="0" lang="en-US" altLang="en-US" sz="2200" b="0" i="0" u="none" strike="noStrike" cap="none" normalizeH="0" baseline="0" dirty="0">
                <a:ln>
                  <a:noFill/>
                </a:ln>
                <a:solidFill>
                  <a:schemeClr val="tx1"/>
                </a:solidFill>
                <a:effectLst/>
                <a:latin typeface="+mj-lt"/>
              </a:rPr>
            </a:br>
            <a:r>
              <a:rPr kumimoji="0" lang="en-US" altLang="en-US" sz="2200" b="0" i="0" u="none" strike="noStrike" cap="none" normalizeH="0" baseline="0" dirty="0">
                <a:ln>
                  <a:noFill/>
                </a:ln>
                <a:solidFill>
                  <a:schemeClr val="tx1"/>
                </a:solidFill>
                <a:effectLst/>
                <a:latin typeface="+mj-lt"/>
              </a:rPr>
              <a:t>The main process involves collecting the user’s skin type as input and generating personalized makeup recommendations using AI, ensuring seamless user interaction and precise suggestions.</a:t>
            </a:r>
            <a:endParaRPr kumimoji="0" lang="en-US" altLang="en-US" sz="2200"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mj-lt"/>
              </a:rPr>
              <a:t>Sub-Processes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200" b="1" i="0" u="none" strike="noStrike" cap="none" normalizeH="0" baseline="0" dirty="0">
                <a:ln>
                  <a:noFill/>
                </a:ln>
                <a:solidFill>
                  <a:schemeClr val="tx1"/>
                </a:solidFill>
                <a:effectLst/>
                <a:latin typeface="+mj-lt"/>
              </a:rPr>
              <a:t>Input Collection and Validation</a:t>
            </a:r>
            <a:endParaRPr kumimoji="0" lang="en-US" altLang="en-US" sz="2200"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mj-lt"/>
              </a:rPr>
              <a:t>Accepts the user's skin type (e.g., dry, oily, combination, sensitive).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mj-lt"/>
              </a:rPr>
              <a:t>Validates the input to ensure it matches predefined categories.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200" b="1" i="0" u="none" strike="noStrike" cap="none" normalizeH="0" baseline="0" dirty="0">
                <a:ln>
                  <a:noFill/>
                </a:ln>
                <a:solidFill>
                  <a:schemeClr val="tx1"/>
                </a:solidFill>
                <a:effectLst/>
                <a:latin typeface="+mj-lt"/>
              </a:rPr>
              <a:t>AI Model Execution</a:t>
            </a:r>
            <a:endParaRPr kumimoji="0" lang="en-US" altLang="en-US" sz="2200"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mj-lt"/>
              </a:rPr>
              <a:t>Passes the skin type input to a trained AI model for processing.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mj-lt"/>
              </a:rPr>
              <a:t>The model generates recommendations tailored to the user’s skin type, focusing on suitable formulations and products.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67560-B803-80EF-BC2C-945292B97428}"/>
              </a:ext>
            </a:extLst>
          </p:cNvPr>
          <p:cNvSpPr>
            <a:spLocks noGrp="1"/>
          </p:cNvSpPr>
          <p:nvPr>
            <p:ph type="title"/>
          </p:nvPr>
        </p:nvSpPr>
        <p:spPr/>
        <p:txBody>
          <a:bodyPr/>
          <a:lstStyle/>
          <a:p>
            <a:r>
              <a:rPr lang="en-US" dirty="0"/>
              <a:t>Process Design</a:t>
            </a:r>
            <a:endParaRPr lang="en-IN" dirty="0"/>
          </a:p>
        </p:txBody>
      </p:sp>
      <p:sp>
        <p:nvSpPr>
          <p:cNvPr id="3" name="Content Placeholder 2">
            <a:extLst>
              <a:ext uri="{FF2B5EF4-FFF2-40B4-BE49-F238E27FC236}">
                <a16:creationId xmlns:a16="http://schemas.microsoft.com/office/drawing/2014/main" id="{8BCC2598-CABE-2E9D-AE54-44B391467E22}"/>
              </a:ext>
            </a:extLst>
          </p:cNvPr>
          <p:cNvSpPr>
            <a:spLocks noGrp="1"/>
          </p:cNvSpPr>
          <p:nvPr>
            <p:ph idx="1"/>
          </p:nvPr>
        </p:nvSpPr>
        <p:spPr/>
        <p:txBody>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mj-lt"/>
              </a:rPr>
              <a:t>Recommendation Presentation</a:t>
            </a:r>
            <a:endParaRPr kumimoji="0" lang="en-US" altLang="en-US"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Displays the AI-generated recommendations with relevant details (e.g., product name, purpose, benefits, and links to purchase).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Ensures a user-friendly interface for smooth interaction. </a:t>
            </a:r>
          </a:p>
          <a:p>
            <a:pPr marL="0" indent="0">
              <a:buNone/>
            </a:pPr>
            <a:endParaRPr lang="en-IN" dirty="0"/>
          </a:p>
        </p:txBody>
      </p:sp>
    </p:spTree>
    <p:extLst>
      <p:ext uri="{BB962C8B-B14F-4D97-AF65-F5344CB8AC3E}">
        <p14:creationId xmlns:p14="http://schemas.microsoft.com/office/powerpoint/2010/main" val="1680971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4399F-04AE-191E-DC7B-835DC8232853}"/>
              </a:ext>
            </a:extLst>
          </p:cNvPr>
          <p:cNvSpPr>
            <a:spLocks noGrp="1"/>
          </p:cNvSpPr>
          <p:nvPr>
            <p:ph type="title"/>
          </p:nvPr>
        </p:nvSpPr>
        <p:spPr/>
        <p:txBody>
          <a:bodyPr/>
          <a:lstStyle/>
          <a:p>
            <a:r>
              <a:rPr lang="en-IN" dirty="0"/>
              <a:t>Implementation</a:t>
            </a:r>
          </a:p>
        </p:txBody>
      </p:sp>
      <p:sp>
        <p:nvSpPr>
          <p:cNvPr id="8" name="AutoShape 4">
            <a:extLst>
              <a:ext uri="{FF2B5EF4-FFF2-40B4-BE49-F238E27FC236}">
                <a16:creationId xmlns:a16="http://schemas.microsoft.com/office/drawing/2014/main" id="{AF2DFA41-6EDE-8DCC-78C9-C30B343146E3}"/>
              </a:ext>
            </a:extLst>
          </p:cNvPr>
          <p:cNvSpPr>
            <a:spLocks noChangeAspect="1" noChangeArrowheads="1"/>
          </p:cNvSpPr>
          <p:nvPr/>
        </p:nvSpPr>
        <p:spPr bwMode="auto">
          <a:xfrm>
            <a:off x="190500" y="-952500"/>
            <a:ext cx="6361720" cy="636172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6">
            <a:extLst>
              <a:ext uri="{FF2B5EF4-FFF2-40B4-BE49-F238E27FC236}">
                <a16:creationId xmlns:a16="http://schemas.microsoft.com/office/drawing/2014/main" id="{83E7A948-4B2B-BB15-A28A-A3B4AB1C4776}"/>
              </a:ext>
            </a:extLst>
          </p:cNvPr>
          <p:cNvSpPr>
            <a:spLocks noChangeAspect="1" noChangeArrowheads="1"/>
          </p:cNvSpPr>
          <p:nvPr/>
        </p:nvSpPr>
        <p:spPr bwMode="auto">
          <a:xfrm>
            <a:off x="3095836" y="1952836"/>
            <a:ext cx="1628564" cy="162856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3" name="Picture 12">
            <a:extLst>
              <a:ext uri="{FF2B5EF4-FFF2-40B4-BE49-F238E27FC236}">
                <a16:creationId xmlns:a16="http://schemas.microsoft.com/office/drawing/2014/main" id="{666C6A16-4443-4362-BA10-271D170426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87974"/>
            <a:ext cx="9144000" cy="4082052"/>
          </a:xfrm>
          <a:prstGeom prst="rect">
            <a:avLst/>
          </a:prstGeom>
        </p:spPr>
      </p:pic>
    </p:spTree>
    <p:extLst>
      <p:ext uri="{BB962C8B-B14F-4D97-AF65-F5344CB8AC3E}">
        <p14:creationId xmlns:p14="http://schemas.microsoft.com/office/powerpoint/2010/main" val="365727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A62A6-698D-D1C7-AB60-99497B3915CE}"/>
              </a:ext>
            </a:extLst>
          </p:cNvPr>
          <p:cNvSpPr>
            <a:spLocks noGrp="1"/>
          </p:cNvSpPr>
          <p:nvPr>
            <p:ph type="title"/>
          </p:nvPr>
        </p:nvSpPr>
        <p:spPr/>
        <p:txBody>
          <a:bodyPr/>
          <a:lstStyle/>
          <a:p>
            <a:r>
              <a:rPr lang="en-IN" dirty="0"/>
              <a:t>Implementation</a:t>
            </a:r>
          </a:p>
        </p:txBody>
      </p:sp>
      <p:pic>
        <p:nvPicPr>
          <p:cNvPr id="7" name="Content Placeholder 6">
            <a:extLst>
              <a:ext uri="{FF2B5EF4-FFF2-40B4-BE49-F238E27FC236}">
                <a16:creationId xmlns:a16="http://schemas.microsoft.com/office/drawing/2014/main" id="{2E67E842-9966-ED2C-603C-A960BF1EA2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500" y="1980365"/>
            <a:ext cx="8763000" cy="3354470"/>
          </a:xfrm>
        </p:spPr>
      </p:pic>
    </p:spTree>
    <p:extLst>
      <p:ext uri="{BB962C8B-B14F-4D97-AF65-F5344CB8AC3E}">
        <p14:creationId xmlns:p14="http://schemas.microsoft.com/office/powerpoint/2010/main" val="28532097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EDF9F-7607-FABC-FAB7-AAC07C4D7ECD}"/>
              </a:ext>
            </a:extLst>
          </p:cNvPr>
          <p:cNvSpPr>
            <a:spLocks noGrp="1"/>
          </p:cNvSpPr>
          <p:nvPr>
            <p:ph type="title"/>
          </p:nvPr>
        </p:nvSpPr>
        <p:spPr/>
        <p:txBody>
          <a:bodyPr/>
          <a:lstStyle/>
          <a:p>
            <a:r>
              <a:rPr lang="en-IN" dirty="0"/>
              <a:t>Implementation</a:t>
            </a:r>
          </a:p>
        </p:txBody>
      </p:sp>
      <p:pic>
        <p:nvPicPr>
          <p:cNvPr id="7" name="Content Placeholder 6">
            <a:extLst>
              <a:ext uri="{FF2B5EF4-FFF2-40B4-BE49-F238E27FC236}">
                <a16:creationId xmlns:a16="http://schemas.microsoft.com/office/drawing/2014/main" id="{07996B06-9B10-2F2E-773D-BBC18D5891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500" y="1917778"/>
            <a:ext cx="8763000" cy="3479643"/>
          </a:xfrm>
        </p:spPr>
      </p:pic>
    </p:spTree>
    <p:extLst>
      <p:ext uri="{BB962C8B-B14F-4D97-AF65-F5344CB8AC3E}">
        <p14:creationId xmlns:p14="http://schemas.microsoft.com/office/powerpoint/2010/main" val="3946818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mj-lt"/>
              </a:rPr>
              <a:t>O</a:t>
            </a:r>
            <a:r>
              <a:rPr lang="en-US" dirty="0"/>
              <a:t>utput Screenshots</a:t>
            </a:r>
            <a:endParaRPr lang="en-IN" dirty="0">
              <a:latin typeface="+mj-lt"/>
            </a:endParaRPr>
          </a:p>
        </p:txBody>
      </p:sp>
      <p:pic>
        <p:nvPicPr>
          <p:cNvPr id="8" name="Picture 7">
            <a:extLst>
              <a:ext uri="{FF2B5EF4-FFF2-40B4-BE49-F238E27FC236}">
                <a16:creationId xmlns:a16="http://schemas.microsoft.com/office/drawing/2014/main" id="{DA605142-8AEB-DB4A-EE77-F1E8DB5078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1784" y="1340768"/>
            <a:ext cx="8460432" cy="4441727"/>
          </a:xfrm>
          <a:prstGeom prst="rect">
            <a:avLst/>
          </a:prstGeom>
        </p:spPr>
      </p:pic>
    </p:spTree>
    <p:custDataLst>
      <p:tags r:id="rId1"/>
    </p:custDataLst>
    <p:extLst>
      <p:ext uri="{BB962C8B-B14F-4D97-AF65-F5344CB8AC3E}">
        <p14:creationId xmlns:p14="http://schemas.microsoft.com/office/powerpoint/2010/main" val="1769472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mj-lt"/>
              </a:rPr>
              <a:t>O</a:t>
            </a:r>
            <a:r>
              <a:rPr lang="en-US" dirty="0"/>
              <a:t>utput Screenshots</a:t>
            </a:r>
            <a:endParaRPr lang="en-IN" dirty="0">
              <a:latin typeface="+mj-lt"/>
            </a:endParaRPr>
          </a:p>
        </p:txBody>
      </p:sp>
      <p:sp>
        <p:nvSpPr>
          <p:cNvPr id="7" name="TextBox 6">
            <a:extLst>
              <a:ext uri="{FF2B5EF4-FFF2-40B4-BE49-F238E27FC236}">
                <a16:creationId xmlns:a16="http://schemas.microsoft.com/office/drawing/2014/main" id="{392EA1FC-530E-02F4-BD60-53FFE747FEBF}"/>
              </a:ext>
            </a:extLst>
          </p:cNvPr>
          <p:cNvSpPr txBox="1"/>
          <p:nvPr/>
        </p:nvSpPr>
        <p:spPr>
          <a:xfrm>
            <a:off x="3347864" y="4962200"/>
            <a:ext cx="4643252" cy="369332"/>
          </a:xfrm>
          <a:prstGeom prst="rect">
            <a:avLst/>
          </a:prstGeom>
          <a:noFill/>
        </p:spPr>
        <p:txBody>
          <a:bodyPr wrap="square">
            <a:spAutoFit/>
          </a:bodyPr>
          <a:lstStyle/>
          <a:p>
            <a:r>
              <a:rPr lang="en-IN" dirty="0"/>
              <a:t>Remainder Text Document </a:t>
            </a:r>
          </a:p>
        </p:txBody>
      </p:sp>
      <p:pic>
        <p:nvPicPr>
          <p:cNvPr id="8" name="Content Placeholder 7">
            <a:extLst>
              <a:ext uri="{FF2B5EF4-FFF2-40B4-BE49-F238E27FC236}">
                <a16:creationId xmlns:a16="http://schemas.microsoft.com/office/drawing/2014/main" id="{15A67E4E-C40E-83DA-E104-0B55DF1C10A8}"/>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329022" y="1376772"/>
            <a:ext cx="8485956" cy="4423304"/>
          </a:xfrm>
        </p:spPr>
      </p:pic>
    </p:spTree>
    <p:custDataLst>
      <p:tags r:id="rId1"/>
    </p:custDataLst>
    <p:extLst>
      <p:ext uri="{BB962C8B-B14F-4D97-AF65-F5344CB8AC3E}">
        <p14:creationId xmlns:p14="http://schemas.microsoft.com/office/powerpoint/2010/main" val="1921327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DC374-F0C6-9BAD-E7E2-B39E3BCC3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D3828A-E1DA-9870-DD6F-A66D4E2F667D}"/>
              </a:ext>
            </a:extLst>
          </p:cNvPr>
          <p:cNvSpPr>
            <a:spLocks noGrp="1"/>
          </p:cNvSpPr>
          <p:nvPr>
            <p:ph type="title"/>
          </p:nvPr>
        </p:nvSpPr>
        <p:spPr/>
        <p:txBody>
          <a:bodyPr>
            <a:normAutofit/>
          </a:bodyPr>
          <a:lstStyle/>
          <a:p>
            <a:r>
              <a:rPr lang="en-US" dirty="0">
                <a:latin typeface="+mj-lt"/>
              </a:rPr>
              <a:t>O</a:t>
            </a:r>
            <a:r>
              <a:rPr lang="en-US" dirty="0"/>
              <a:t>utput Screenshots</a:t>
            </a:r>
            <a:endParaRPr lang="en-IN" dirty="0">
              <a:latin typeface="+mj-lt"/>
            </a:endParaRPr>
          </a:p>
        </p:txBody>
      </p:sp>
      <p:pic>
        <p:nvPicPr>
          <p:cNvPr id="8" name="Picture 7">
            <a:extLst>
              <a:ext uri="{FF2B5EF4-FFF2-40B4-BE49-F238E27FC236}">
                <a16:creationId xmlns:a16="http://schemas.microsoft.com/office/drawing/2014/main" id="{1C947091-3A46-CC17-A288-FEFFC503BE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790" y="1074661"/>
            <a:ext cx="8352420" cy="4708677"/>
          </a:xfrm>
          <a:prstGeom prst="rect">
            <a:avLst/>
          </a:prstGeom>
        </p:spPr>
      </p:pic>
    </p:spTree>
    <p:custDataLst>
      <p:tags r:id="rId1"/>
    </p:custDataLst>
    <p:extLst>
      <p:ext uri="{BB962C8B-B14F-4D97-AF65-F5344CB8AC3E}">
        <p14:creationId xmlns:p14="http://schemas.microsoft.com/office/powerpoint/2010/main" val="2564706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6" name="Rectangle 3">
            <a:extLst>
              <a:ext uri="{FF2B5EF4-FFF2-40B4-BE49-F238E27FC236}">
                <a16:creationId xmlns:a16="http://schemas.microsoft.com/office/drawing/2014/main" id="{A2FBEABE-E8C7-5ADE-D91F-F76859BB256D}"/>
              </a:ext>
            </a:extLst>
          </p:cNvPr>
          <p:cNvSpPr>
            <a:spLocks noChangeArrowheads="1"/>
          </p:cNvSpPr>
          <p:nvPr/>
        </p:nvSpPr>
        <p:spPr bwMode="auto">
          <a:xfrm>
            <a:off x="0" y="1162218"/>
            <a:ext cx="895350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j-lt"/>
              </a:rPr>
              <a:t>The </a:t>
            </a:r>
            <a:r>
              <a:rPr kumimoji="0" lang="en-US" altLang="en-US" sz="2400" b="1" i="0" u="none" strike="noStrike" cap="none" normalizeH="0" baseline="0" dirty="0">
                <a:ln>
                  <a:noFill/>
                </a:ln>
                <a:solidFill>
                  <a:schemeClr val="tx1"/>
                </a:solidFill>
                <a:effectLst/>
                <a:latin typeface="+mj-lt"/>
              </a:rPr>
              <a:t>AI-Powered Makeup Recommendation Bot</a:t>
            </a:r>
            <a:r>
              <a:rPr kumimoji="0" lang="en-US" altLang="en-US" sz="2400" b="0" i="0" u="none" strike="noStrike" cap="none" normalizeH="0" baseline="0" dirty="0">
                <a:ln>
                  <a:noFill/>
                </a:ln>
                <a:solidFill>
                  <a:schemeClr val="tx1"/>
                </a:solidFill>
                <a:effectLst/>
                <a:latin typeface="+mj-lt"/>
              </a:rPr>
              <a:t> leverages advanced artificial intelligence to provide personalized makeup suggestions tailored to users' skin types, simplifying the decision-making process. By delivering precise recommendations in real-time, it enhances user experience and promotes informed product choices. The bot significantly reduces the time and effort spent on finding suitable products, making it an invaluable tool for beauty enthusiasts. While it excels in personalization, it may face challenges when handling highly specific or unconventional skin concerns, highlighting the need for continuous AI model improvements. Overall, the bot empowers users with curated options, supports the growing trend of AI in beauty tech, and bridges the gap between technology and personalized self-care.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lstStyle/>
          <a:p>
            <a:pPr marL="0" indent="0" algn="just">
              <a:buNone/>
            </a:pPr>
            <a:endParaRPr lang="en-US" dirty="0"/>
          </a:p>
          <a:p>
            <a:endParaRPr lang="en-US" dirty="0"/>
          </a:p>
          <a:p>
            <a:endParaRPr lang="en-US" dirty="0"/>
          </a:p>
        </p:txBody>
      </p:sp>
      <p:sp>
        <p:nvSpPr>
          <p:cNvPr id="4" name="Rectangle 1">
            <a:extLst>
              <a:ext uri="{FF2B5EF4-FFF2-40B4-BE49-F238E27FC236}">
                <a16:creationId xmlns:a16="http://schemas.microsoft.com/office/drawing/2014/main" id="{7C168864-FD1D-E804-9901-EB1C2A29EBAD}"/>
              </a:ext>
            </a:extLst>
          </p:cNvPr>
          <p:cNvSpPr>
            <a:spLocks noChangeArrowheads="1"/>
          </p:cNvSpPr>
          <p:nvPr/>
        </p:nvSpPr>
        <p:spPr bwMode="auto">
          <a:xfrm>
            <a:off x="71500" y="1431659"/>
            <a:ext cx="896499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Product Purchase Integration:</a:t>
            </a:r>
            <a:r>
              <a:rPr kumimoji="0" lang="en-US" altLang="en-US" sz="2400" b="0" i="0" u="none" strike="noStrike" cap="none" normalizeH="0" baseline="0" dirty="0">
                <a:ln>
                  <a:noFill/>
                </a:ln>
                <a:solidFill>
                  <a:schemeClr val="tx1"/>
                </a:solidFill>
                <a:effectLst/>
                <a:latin typeface="Arial" panose="020B0604020202020204" pitchFamily="34" charset="0"/>
              </a:rPr>
              <a:t> Enable direct purchase of recommended makeup products through the bot.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Skin Health Analysis:</a:t>
            </a:r>
            <a:r>
              <a:rPr kumimoji="0" lang="en-US" altLang="en-US" sz="2400" b="0" i="0" u="none" strike="noStrike" cap="none" normalizeH="0" baseline="0" dirty="0">
                <a:ln>
                  <a:noFill/>
                </a:ln>
                <a:solidFill>
                  <a:schemeClr val="tx1"/>
                </a:solidFill>
                <a:effectLst/>
                <a:latin typeface="Arial" panose="020B0604020202020204" pitchFamily="34" charset="0"/>
              </a:rPr>
              <a:t> Incorporate AI-driven skin analysis via uploaded images for even more precise recommendations.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Advanced Personalization:</a:t>
            </a:r>
            <a:r>
              <a:rPr kumimoji="0" lang="en-US" altLang="en-US" sz="2400" b="0" i="0" u="none" strike="noStrike" cap="none" normalizeH="0" baseline="0" dirty="0">
                <a:ln>
                  <a:noFill/>
                </a:ln>
                <a:solidFill>
                  <a:schemeClr val="tx1"/>
                </a:solidFill>
                <a:effectLst/>
                <a:latin typeface="Arial" panose="020B0604020202020204" pitchFamily="34" charset="0"/>
              </a:rPr>
              <a:t> Use machine learning to refine recommendations based on user feedback and purchase history.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Mobile App Support:</a:t>
            </a:r>
            <a:r>
              <a:rPr kumimoji="0" lang="en-US" altLang="en-US" sz="2400" b="0" i="0" u="none" strike="noStrike" cap="none" normalizeH="0" baseline="0" dirty="0">
                <a:ln>
                  <a:noFill/>
                </a:ln>
                <a:solidFill>
                  <a:schemeClr val="tx1"/>
                </a:solidFill>
                <a:effectLst/>
                <a:latin typeface="Arial" panose="020B0604020202020204" pitchFamily="34" charset="0"/>
              </a:rPr>
              <a:t> Offer a dedicated app for instant and on-the-go access to recommendations.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Trend Updates:</a:t>
            </a:r>
            <a:r>
              <a:rPr kumimoji="0" lang="en-US" altLang="en-US" sz="2400" b="0" i="0" u="none" strike="noStrike" cap="none" normalizeH="0" baseline="0" dirty="0">
                <a:ln>
                  <a:noFill/>
                </a:ln>
                <a:solidFill>
                  <a:schemeClr val="tx1"/>
                </a:solidFill>
                <a:effectLst/>
                <a:latin typeface="Arial" panose="020B0604020202020204" pitchFamily="34" charset="0"/>
              </a:rPr>
              <a:t> Integrate real-time updates on makeup trends, new products, and seasonal collections. </a:t>
            </a:r>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IEEE Paper</a:t>
            </a:r>
            <a:endParaRPr lang="en-IN" dirty="0">
              <a:latin typeface="+mj-lt"/>
            </a:endParaRPr>
          </a:p>
        </p:txBody>
      </p:sp>
      <p:sp>
        <p:nvSpPr>
          <p:cNvPr id="3" name="Rectangle 1">
            <a:extLst>
              <a:ext uri="{FF2B5EF4-FFF2-40B4-BE49-F238E27FC236}">
                <a16:creationId xmlns:a16="http://schemas.microsoft.com/office/drawing/2014/main" id="{EB6003C5-61FD-589B-5A60-64E58FF3ECB7}"/>
              </a:ext>
            </a:extLst>
          </p:cNvPr>
          <p:cNvSpPr>
            <a:spLocks noGrp="1" noChangeArrowheads="1"/>
          </p:cNvSpPr>
          <p:nvPr>
            <p:ph idx="1"/>
          </p:nvPr>
        </p:nvSpPr>
        <p:spPr bwMode="auto">
          <a:xfrm>
            <a:off x="190500" y="679369"/>
            <a:ext cx="8557964"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rPr>
              <a:t>Artificial Intelligence in Beauty: A Systematic Mapping Study on Personalized Makeup Recommendation Systems</a:t>
            </a:r>
            <a:br>
              <a:rPr kumimoji="0" lang="en-US" altLang="en-US" b="0" i="0" u="none" strike="noStrike" cap="none" normalizeH="0" baseline="0" dirty="0">
                <a:ln>
                  <a:noFill/>
                </a:ln>
                <a:solidFill>
                  <a:schemeClr val="tx1"/>
                </a:solidFill>
                <a:effectLst/>
              </a:rPr>
            </a:br>
            <a:r>
              <a:rPr kumimoji="0" lang="en-US" altLang="en-US" b="1" i="0" u="none" strike="noStrike" cap="none" normalizeH="0" baseline="0" dirty="0">
                <a:ln>
                  <a:noFill/>
                </a:ln>
                <a:solidFill>
                  <a:schemeClr val="tx1"/>
                </a:solidFill>
                <a:effectLst/>
              </a:rPr>
              <a:t>Authors:</a:t>
            </a:r>
            <a:r>
              <a:rPr kumimoji="0" lang="en-US" altLang="en-US" b="0" i="0" u="none" strike="noStrike" cap="none" normalizeH="0" baseline="0" dirty="0">
                <a:ln>
                  <a:noFill/>
                </a:ln>
                <a:solidFill>
                  <a:schemeClr val="tx1"/>
                </a:solidFill>
                <a:effectLst/>
              </a:rPr>
              <a:t> A. S. Gupta, R. M. Sharma, P. K. Verma</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rPr>
              <a:t>Transforming Beauty Tech: Leveraging AI for Personalized Makeup Recommendations and Enhanced User Experience</a:t>
            </a:r>
            <a:br>
              <a:rPr kumimoji="0" lang="en-US" altLang="en-US" b="0" i="0" u="none" strike="noStrike" cap="none" normalizeH="0" baseline="0" dirty="0">
                <a:ln>
                  <a:noFill/>
                </a:ln>
                <a:solidFill>
                  <a:schemeClr val="tx1"/>
                </a:solidFill>
                <a:effectLst/>
              </a:rPr>
            </a:br>
            <a:r>
              <a:rPr kumimoji="0" lang="en-US" altLang="en-US" b="1" i="0" u="none" strike="noStrike" cap="none" normalizeH="0" baseline="0" dirty="0">
                <a:ln>
                  <a:noFill/>
                </a:ln>
                <a:solidFill>
                  <a:schemeClr val="tx1"/>
                </a:solidFill>
                <a:effectLst/>
              </a:rPr>
              <a:t>Authors:</a:t>
            </a:r>
            <a:r>
              <a:rPr kumimoji="0" lang="en-US" altLang="en-US" b="0" i="0" u="none" strike="noStrike" cap="none" normalizeH="0" baseline="0" dirty="0">
                <a:ln>
                  <a:noFill/>
                </a:ln>
                <a:solidFill>
                  <a:schemeClr val="tx1"/>
                </a:solidFill>
                <a:effectLst/>
              </a:rPr>
              <a:t> V. L. Yadav, S. T. Reddy, K. R. Nair</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rPr>
              <a:t>AI-Driven Makeup Recommendation Systems: Advanced Techniques and Emerging Technologies in Beauty Automation</a:t>
            </a:r>
            <a:br>
              <a:rPr kumimoji="0" lang="en-US" altLang="en-US" b="0" i="0" u="none" strike="noStrike" cap="none" normalizeH="0" baseline="0" dirty="0">
                <a:ln>
                  <a:noFill/>
                </a:ln>
                <a:solidFill>
                  <a:schemeClr val="tx1"/>
                </a:solidFill>
                <a:effectLst/>
              </a:rPr>
            </a:br>
            <a:r>
              <a:rPr kumimoji="0" lang="en-US" altLang="en-US" b="1" i="0" u="none" strike="noStrike" cap="none" normalizeH="0" baseline="0" dirty="0">
                <a:ln>
                  <a:noFill/>
                </a:ln>
                <a:solidFill>
                  <a:schemeClr val="tx1"/>
                </a:solidFill>
                <a:effectLst/>
              </a:rPr>
              <a:t>Authors:</a:t>
            </a:r>
            <a:r>
              <a:rPr kumimoji="0" lang="en-US" altLang="en-US" b="0" i="0" u="none" strike="noStrike" cap="none" normalizeH="0" baseline="0" dirty="0">
                <a:ln>
                  <a:noFill/>
                </a:ln>
                <a:solidFill>
                  <a:schemeClr val="tx1"/>
                </a:solidFill>
                <a:effectLst/>
              </a:rPr>
              <a:t> R. S. Mehta, A. K. Jain, N. Gupta</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chemeClr val="tx1"/>
                </a:solidFill>
                <a:effectLst/>
              </a:rPr>
              <a:t>Design and Development of Intelligent Makeup Recommendation Bots for Personalized Beauty Solutions</a:t>
            </a:r>
            <a:br>
              <a:rPr kumimoji="0" lang="en-US" altLang="en-US" b="0" i="0" u="none" strike="noStrike" cap="none" normalizeH="0" baseline="0" dirty="0">
                <a:ln>
                  <a:noFill/>
                </a:ln>
                <a:solidFill>
                  <a:schemeClr val="tx1"/>
                </a:solidFill>
                <a:effectLst/>
              </a:rPr>
            </a:br>
            <a:r>
              <a:rPr kumimoji="0" lang="en-US" altLang="en-US" b="1" i="0" u="none" strike="noStrike" cap="none" normalizeH="0" baseline="0" dirty="0">
                <a:ln>
                  <a:noFill/>
                </a:ln>
                <a:solidFill>
                  <a:schemeClr val="tx1"/>
                </a:solidFill>
                <a:effectLst/>
              </a:rPr>
              <a:t>Authors:</a:t>
            </a:r>
            <a:r>
              <a:rPr kumimoji="0" lang="en-US" altLang="en-US" b="0" i="0" u="none" strike="noStrike" cap="none" normalizeH="0" baseline="0" dirty="0">
                <a:ln>
                  <a:noFill/>
                </a:ln>
                <a:solidFill>
                  <a:schemeClr val="tx1"/>
                </a:solidFill>
                <a:effectLst/>
              </a:rPr>
              <a:t> D. R. Patel, S. M. Kumar, P. S. Reddy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32772628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p:txBody>
          <a:bodyPr/>
          <a:lstStyle/>
          <a:p>
            <a:r>
              <a:rPr lang="en-IN" dirty="0"/>
              <a:t>[1] Avasarala, R., &amp; Waghmare, S. (2020). </a:t>
            </a:r>
            <a:r>
              <a:rPr lang="en-IN" b="1" dirty="0"/>
              <a:t>AI-Powered Beauty Solutions: Case Studies in Personalized Makeup Recommendation Systems.</a:t>
            </a:r>
            <a:r>
              <a:rPr lang="en-IN" dirty="0"/>
              <a:t> </a:t>
            </a:r>
            <a:r>
              <a:rPr lang="en-IN" i="1" dirty="0"/>
              <a:t>International Journal of Advanced Computer Science and Applications, 11(7), 334-341.</a:t>
            </a:r>
            <a:r>
              <a:rPr lang="en-IN" dirty="0"/>
              <a:t> </a:t>
            </a:r>
            <a:r>
              <a:rPr lang="en-IN" dirty="0">
                <a:hlinkClick r:id="rId4"/>
              </a:rPr>
              <a:t>https://doi.org/10.14569/IJACSA.2020.0110737</a:t>
            </a:r>
            <a:endParaRPr lang="en-IN" dirty="0"/>
          </a:p>
          <a:p>
            <a:r>
              <a:rPr lang="en-IN" dirty="0"/>
              <a:t>[2] Bansal, P., &amp; Mehra, R. (2021). </a:t>
            </a:r>
            <a:r>
              <a:rPr lang="en-IN" b="1" dirty="0"/>
              <a:t>Enhancing User Experience with AI-Driven Makeup Recommendation Systems.</a:t>
            </a:r>
            <a:r>
              <a:rPr lang="en-IN" dirty="0"/>
              <a:t> </a:t>
            </a:r>
            <a:r>
              <a:rPr lang="en-IN" i="1" dirty="0"/>
              <a:t>International Journal of Engineering and Technology, 9(6).</a:t>
            </a:r>
            <a:r>
              <a:rPr lang="en-IN" dirty="0"/>
              <a:t> </a:t>
            </a:r>
            <a:r>
              <a:rPr lang="en-IN" dirty="0">
                <a:hlinkClick r:id="rId5"/>
              </a:rPr>
              <a:t>https://doi.org/10.21817/ijet/2021/v9i6/210906295</a:t>
            </a:r>
            <a:endParaRPr lang="en-IN" dirty="0"/>
          </a:p>
          <a:p>
            <a:pPr marL="0" indent="0" algn="just">
              <a:buNone/>
            </a:pPr>
            <a:endParaRPr lang="en-US" dirty="0"/>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ags/tag17.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9545</TotalTime>
  <Words>1539</Words>
  <Application>Microsoft Office PowerPoint</Application>
  <PresentationFormat>On-screen Show (4:3)</PresentationFormat>
  <Paragraphs>130</Paragraphs>
  <Slides>25</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Open Sans Bold</vt:lpstr>
      <vt:lpstr>Arial</vt:lpstr>
      <vt:lpstr>Calibri</vt:lpstr>
      <vt:lpstr>Courier New</vt:lpstr>
      <vt:lpstr>Open Sans Extrabold</vt:lpstr>
      <vt:lpstr>Open Sans Light</vt:lpstr>
      <vt:lpstr>Symbol</vt:lpstr>
      <vt:lpstr>Wingdings</vt:lpstr>
      <vt:lpstr>Office Theme</vt:lpstr>
      <vt:lpstr>PowerPoint Presentation</vt:lpstr>
      <vt:lpstr>Abstract</vt:lpstr>
      <vt:lpstr>Need for the Proposed System</vt:lpstr>
      <vt:lpstr>Advantages of the Proposed System</vt:lpstr>
      <vt:lpstr>Literature Survey</vt:lpstr>
      <vt:lpstr>Literature Survey</vt:lpstr>
      <vt:lpstr>Main Objective</vt:lpstr>
      <vt:lpstr>Architecture</vt:lpstr>
      <vt:lpstr>System Requirements</vt:lpstr>
      <vt:lpstr>System Requirements</vt:lpstr>
      <vt:lpstr>Functional Description</vt:lpstr>
      <vt:lpstr>Data Flow Diagram</vt:lpstr>
      <vt:lpstr>Process Design</vt:lpstr>
      <vt:lpstr>Process Design</vt:lpstr>
      <vt:lpstr>Implementation</vt:lpstr>
      <vt:lpstr>Implementation</vt:lpstr>
      <vt:lpstr>Implementation</vt:lpstr>
      <vt:lpstr>Output Screenshots</vt:lpstr>
      <vt:lpstr>Output Screenshots</vt:lpstr>
      <vt:lpstr>Output Screenshots</vt:lpstr>
      <vt:lpstr>Conclusions</vt:lpstr>
      <vt:lpstr>Future Enhancement</vt:lpstr>
      <vt:lpstr>IEEE Paper</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Dhanyaa</dc:creator>
  <cp:lastModifiedBy>Dhanyaa Vanisha</cp:lastModifiedBy>
  <cp:revision>1743</cp:revision>
  <dcterms:created xsi:type="dcterms:W3CDTF">2013-05-17T03:00:03Z</dcterms:created>
  <dcterms:modified xsi:type="dcterms:W3CDTF">2024-11-22T02:33:37Z</dcterms:modified>
</cp:coreProperties>
</file>